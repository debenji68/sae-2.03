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256" r:id="rId2"/>
    <p:sldId id="257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0" r:id="rId15"/>
    <p:sldId id="271" r:id="rId16"/>
    <p:sldId id="268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6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Moyenne</c:v>
                </c:pt>
              </c:strCache>
            </c:strRef>
          </c:tx>
          <c:spPr>
            <a:solidFill>
              <a:srgbClr val="E0A52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08B-4764-A1BF-A51B65E1AECE}"/>
              </c:ext>
            </c:extLst>
          </c:dPt>
          <c:dPt>
            <c:idx val="1"/>
            <c:invertIfNegative val="0"/>
            <c:bubble3D val="0"/>
            <c:spPr>
              <a:solidFill>
                <a:srgbClr val="F2C7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08B-4764-A1BF-A51B65E1AEC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B2A4A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Particuliers</c:v>
                </c:pt>
                <c:pt idx="1">
                  <c:v>Pros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13.5</c:v>
                </c:pt>
                <c:pt idx="1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08B-4764-A1BF-A51B65E1AEC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678"/>
                </a:solidFill>
                <a:latin typeface="Arial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6350" cap="flat">
              <a:solidFill>
                <a:srgbClr val="E0D8C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678"/>
                </a:solidFill>
                <a:latin typeface="Arial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AF9D8F12-4905-4386-B9E9-1F97D9576CC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647F3B1-E33F-434C-80E1-1BDC1138C5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C55CFE-26B8-4998-A04E-0C88C3475DCF}" type="datetimeFigureOut">
              <a:rPr lang="fr-FR" smtClean="0"/>
              <a:t>10/06/2026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2A380D1-706E-4EAE-98FC-055F4593F80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7DA21AB-1E14-4DC0-B0F2-B20285D473A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BE111F-6058-4E3E-AFDB-2C904D4B3EE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17301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065924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F2C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02920" y="21945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Gestion d'une Ludothèque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 Django — consultation, saisie et manipulation de données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4023360"/>
            <a:ext cx="1783080" cy="548640"/>
          </a:xfrm>
          <a:prstGeom prst="roundRect">
            <a:avLst>
              <a:gd name="adj" fmla="val 50000"/>
            </a:avLst>
          </a:prstGeom>
          <a:solidFill>
            <a:srgbClr val="26395F"/>
          </a:solidFill>
          <a:ln w="12700">
            <a:solidFill>
              <a:srgbClr val="E0A52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C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14600" y="4023360"/>
            <a:ext cx="1783080" cy="548640"/>
          </a:xfrm>
          <a:prstGeom prst="roundRect">
            <a:avLst>
              <a:gd name="adj" fmla="val 50000"/>
            </a:avLst>
          </a:prstGeom>
          <a:solidFill>
            <a:srgbClr val="26395F"/>
          </a:solidFill>
          <a:ln w="12700">
            <a:solidFill>
              <a:srgbClr val="E0A52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2514600" y="40233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C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80560" y="4023360"/>
            <a:ext cx="1783080" cy="548640"/>
          </a:xfrm>
          <a:prstGeom prst="roundRect">
            <a:avLst>
              <a:gd name="adj" fmla="val 50000"/>
            </a:avLst>
          </a:prstGeom>
          <a:solidFill>
            <a:srgbClr val="26395F"/>
          </a:solidFill>
          <a:ln w="12700">
            <a:solidFill>
              <a:srgbClr val="E0A52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480560" y="40233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C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46520" y="4023360"/>
            <a:ext cx="1783080" cy="548640"/>
          </a:xfrm>
          <a:prstGeom prst="roundRect">
            <a:avLst>
              <a:gd name="adj" fmla="val 50000"/>
            </a:avLst>
          </a:prstGeom>
          <a:solidFill>
            <a:srgbClr val="26395F"/>
          </a:solidFill>
          <a:ln w="12700">
            <a:solidFill>
              <a:srgbClr val="E0A52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6446520" y="40233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C7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 KOEBEL Amaury, DEIBER Benjamin, NORDMANN </a:t>
            </a:r>
            <a:r>
              <a:rPr lang="en-US" sz="1400" i="1" dirty="0" err="1">
                <a:solidFill>
                  <a:srgbClr val="88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Maxence</a:t>
            </a:r>
            <a:r>
              <a:rPr lang="en-US" sz="1400" i="1" dirty="0">
                <a:solidFill>
                  <a:srgbClr val="88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BAKIR Evan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 sujet et le schéma de données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interface de gestion de ludothèque : consulter, commenter, noter et lister des jeux. Six types de données à gérer.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0D8C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Catégories (id, nom, descriptif)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263347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0D8C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31520" y="2633472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25880" y="26334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Jeux (titre, année, éditeur, auteur, catégorie)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48640" y="3346704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0D8C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731520" y="3346704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25880" y="3346704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Auteurs (nom, prénom, âge, photo)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4059936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0D8C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731520" y="4059936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4059936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Joueurs (identifiants, type : particulier / pro)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4773168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0D8C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731520" y="4773168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4773168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Commentaires (jeu, joueur, note, date)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0D8C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731520" y="5486400"/>
            <a:ext cx="457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25880" y="5486400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Listes de jeux personnelles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 — Ludothèque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F980F294-D597-412F-AD7D-93861BFD1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80088"/>
            <a:ext cx="6908800" cy="310841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6C394C07-074C-4810-B264-868A8FD9C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8801" y="1780089"/>
            <a:ext cx="5097380" cy="3299912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3BEA36CB-3478-4F63-A48A-D6E5D302F4C7}"/>
              </a:ext>
            </a:extLst>
          </p:cNvPr>
          <p:cNvSpPr txBox="1"/>
          <p:nvPr/>
        </p:nvSpPr>
        <p:spPr>
          <a:xfrm>
            <a:off x="4639733" y="713377"/>
            <a:ext cx="49784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600" b="1" dirty="0">
                <a:latin typeface="Bookman Old Style" panose="02050604050505020204" pitchFamily="18" charset="0"/>
              </a:rPr>
              <a:t>Planning de Gantt</a:t>
            </a: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2AED6A82-9357-48E3-8DED-29444B942A8C}"/>
              </a:ext>
            </a:extLst>
          </p:cNvPr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 — Ludothèque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362526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— models.py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Les modèles : la structure de la base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classe Python devient une table SQL (l'ORM Django). Les ForeignKey créent les relations entre tables.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______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526280"/>
          </a:xfrm>
          <a:prstGeom prst="roundRect">
            <a:avLst>
              <a:gd name="adj" fmla="val 1212"/>
            </a:avLst>
          </a:prstGeom>
          <a:solidFill>
            <a:srgbClr val="14233F"/>
          </a:solidFill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49808" y="2084832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ludotheque/models.py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49808" y="2386584"/>
            <a:ext cx="10661904" cy="0"/>
          </a:xfrm>
          <a:prstGeom prst="line">
            <a:avLst/>
          </a:prstGeom>
          <a:noFill/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68096" y="2514600"/>
            <a:ext cx="10643616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Categorie(models.Model):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nom = models.CharField(max_length=100)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descriptif = models.TextField()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Auteur(models.Model):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nom = models.CharField(max_length=100)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prenom = models.CharField(max_length=100)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age = models.IntegerField()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Jeu(models.Model):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titre = models.CharField(max_length=200)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annee_sortie = models.IntegerField()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editeur = models.CharField(max_length=150)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auteur = models.ForeignKey(Auteur, on_delete=models.CASCADE)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categorie = models.ForeignKey(Categorie, on_delete=models.CASCADE)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Joueur(models.Model):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username = models.CharField(max_length=100, unique=True)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email = models.EmailField()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type_joueur = models.CharField(choices=TYPES_CHOICES)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 — Ludothèque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— urls.py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 routage : URL → vue → template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URL est associée à une fonction de views.py. C'est le point d'entrée de chaque page du site.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4617720"/>
          </a:xfrm>
          <a:prstGeom prst="roundRect">
            <a:avLst>
              <a:gd name="adj" fmla="val 1188"/>
            </a:avLst>
          </a:prstGeom>
          <a:solidFill>
            <a:srgbClr val="14233F"/>
          </a:solidFill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49808" y="1947672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ludotheque/urls.py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2249424"/>
            <a:ext cx="10661904" cy="0"/>
          </a:xfrm>
          <a:prstGeom prst="line">
            <a:avLst/>
          </a:prstGeom>
          <a:noFill/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68096" y="2377440"/>
            <a:ext cx="106436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urlpatterns = [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path('', views.accueil, name='accueil'),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Jeux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path('jeux/', views.liste_jeux, name='liste_jeux'),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path('jeux/ajouter/', views.ajouter_jeu, name='ajouter_jeu'),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path('jeux/modifier/&lt;int:id&gt;/', views.modifier_jeu, name='modifier_jeu'),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path('jeux/supprimer/&lt;int:id&gt;/', views.supprimer_jeu, name='supprimer_jeu'),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path('jeux/importer-csv/', views.importer_jeux_csv, name='importer_jeux_csv'),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path('jeux/&lt;int:jeu_id&gt;/commenter/', views.commenter_jeu, name='commenter_jeu'),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Joueurs / commentaires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path('joueurs/&lt;int:id&gt;/', views.fiche_joueur, name='fiche_joueur'),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path('commentaires/', views.liste_commentaires, name='liste_commentaires'),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 — Ludothèque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 — CRUD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Créer, modifier, supprimer (exemple : catégorie)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______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6903720" cy="5029200"/>
          </a:xfrm>
          <a:prstGeom prst="roundRect">
            <a:avLst>
              <a:gd name="adj" fmla="val 1091"/>
            </a:avLst>
          </a:prstGeom>
          <a:solidFill>
            <a:srgbClr val="14233F"/>
          </a:solidFill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49808" y="1600200"/>
            <a:ext cx="6537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ludotheque/views.py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1901952"/>
            <a:ext cx="6501384" cy="0"/>
          </a:xfrm>
          <a:prstGeom prst="line">
            <a:avLst/>
          </a:prstGeom>
          <a:noFill/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68096" y="2029968"/>
            <a:ext cx="6483096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ajouter_categorie(request):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request.method == 'POST':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form = CategorieForm(request.POST)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form.is_valid():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form.save()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redirect('liste_categories')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form = CategorieForm()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render(request, 'form.html',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{'form': form})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supprimer_categorie(request, id):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 = get_object_or_404(Categorie, pk=id)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request.method == 'POST':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cat.delete()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redirect('liste_categories')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render(request, 'supprimer.html',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{'categorie': cat})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35240" y="1481328"/>
            <a:ext cx="3977640" cy="5029200"/>
          </a:xfrm>
          <a:prstGeom prst="roundRect">
            <a:avLst>
              <a:gd name="adj" fmla="val 1379"/>
            </a:avLst>
          </a:prstGeom>
          <a:solidFill>
            <a:srgbClr val="14233F"/>
          </a:solidFill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7836408" y="1600200"/>
            <a:ext cx="3611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ludotheque/forms.py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836408" y="1901952"/>
            <a:ext cx="3575304" cy="0"/>
          </a:xfrm>
          <a:prstGeom prst="line">
            <a:avLst/>
          </a:prstGeom>
          <a:noFill/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7854696" y="2029968"/>
            <a:ext cx="3557016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CategorieForm(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forms.ModelForm):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class Meta: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 = Categorie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fields = '__all__'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ModelForm génère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automatiquement les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champs du formulaire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à partir du modèle.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 même schéma se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répète pour les 6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entités du projet.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 — Ludothèque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 — ACCUEIL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sélection aléatoire de la page d'accueil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order_by('?') trie les résultats au hasard côté base de données, puis .first() prend le premier élément.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______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480560"/>
          </a:xfrm>
          <a:prstGeom prst="roundRect">
            <a:avLst>
              <a:gd name="adj" fmla="val 1224"/>
            </a:avLst>
          </a:prstGeom>
          <a:solidFill>
            <a:srgbClr val="14233F"/>
          </a:solidFill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49808" y="2084832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ludotheque/views.py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49808" y="2386584"/>
            <a:ext cx="10661904" cy="0"/>
          </a:xfrm>
          <a:prstGeom prst="line">
            <a:avLst/>
          </a:prstGeom>
          <a:noFill/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68096" y="2514600"/>
            <a:ext cx="1064361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accueil(request):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jeu_aleatoire = Jeu.objects.order_by('?').first()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auteur_aleatoire = Auteur.objects.order_by('?').first()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categorie_aleatoire = Categorie.objects.order_by('?').first()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commentaire_aleatoire = Commentaire.objects.order_by('?').first()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context = {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'jeu_choisi': jeu_aleatoire,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'auteur_choisi': auteur_aleatoire,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'categorie_choisie': categorie_aleatoire,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'commentaire_choisi': commentaire_aleatoire,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render(request, 'ludotheque/accueil.html', context)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 — Ludothèque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 — USAGERS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Commenter un jeu et l'ajouter à sa liste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______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11064240" cy="5029200"/>
          </a:xfrm>
          <a:prstGeom prst="roundRect">
            <a:avLst>
              <a:gd name="adj" fmla="val 1091"/>
            </a:avLst>
          </a:prstGeom>
          <a:solidFill>
            <a:srgbClr val="14233F"/>
          </a:solidFill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749808" y="1600200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ludotheque/views.py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1901952"/>
            <a:ext cx="10661904" cy="0"/>
          </a:xfrm>
          <a:prstGeom prst="line">
            <a:avLst/>
          </a:prstGeom>
          <a:noFill/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68096" y="2029968"/>
            <a:ext cx="10643616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commenter_jeu(request, jeu_id):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jeu = get_object_or_404(Jeu, pk=jeu_id)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request.method == 'POST':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joueur = get_object_or_404(Joueur, pk=request.POST.get('joueur_id'))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Commentaire.objects.create(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jeu=jeu, joueur=joueur,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note=request.POST.get('note'),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commentaire=request.POST.get('commentaire', ''))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redirect('liste_jeux')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ajouter_jeu_liste_depuis_jeux(request, jeu_id):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jeu = get_object_or_404(Jeu, pk=jeu_id)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request.method == 'POST':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joueur = get_object_or_404(Joueur, pk=request.POST.get('joueur_id'))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liste, created = ListeJeux.objects.get_or_create(joueur=joueur)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liste.jeux.add(jeu)   # relation ManyToMany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redirect('liste_jeux')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 — Ludothèque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— moyenne par type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Moyenne des notes par type de joueur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values() regroupe les commentaires par type de joueur ; annotate(Avg('note')) calcule la moyenne de chaque groupe.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______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7315200" cy="4480560"/>
          </a:xfrm>
          <a:prstGeom prst="roundRect">
            <a:avLst>
              <a:gd name="adj" fmla="val 1224"/>
            </a:avLst>
          </a:prstGeom>
          <a:solidFill>
            <a:srgbClr val="14233F"/>
          </a:solidFill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49808" y="2084832"/>
            <a:ext cx="6949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ludotheque/views.py — liste_jeux()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49808" y="2386584"/>
            <a:ext cx="6912864" cy="0"/>
          </a:xfrm>
          <a:prstGeom prst="line">
            <a:avLst/>
          </a:prstGeom>
          <a:noFill/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68096" y="2514600"/>
            <a:ext cx="689457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jeu in jeux: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moyennes = (Commentaire.objects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.filter(jeu=jeu)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.values('joueur__type_joueur')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.annotate(moyenne=Avg('note')))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dico = {l['joueur__type_joueur']: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round(l['moyenne'], 2)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l in moyennes}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jeu.moyenne_particulier = dico.get('particulier')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jeu.moyenne_professionnel = dico.get('professionnel')</a:t>
            </a:r>
            <a:endParaRPr lang="en-US" sz="115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8046720" y="2194560"/>
          <a:ext cx="356616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 — Ludothèque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STATISTIQUES — top / flop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Commentaires les mieux et moins bien notés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trie les commentaires par note puis on prend le premier : décroissant pour la meilleure note, croissant pour la pire.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______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206240"/>
          </a:xfrm>
          <a:prstGeom prst="roundRect">
            <a:avLst>
              <a:gd name="adj" fmla="val 1304"/>
            </a:avLst>
          </a:prstGeom>
          <a:solidFill>
            <a:srgbClr val="14233F"/>
          </a:solidFill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49808" y="2084832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ludotheque/views.py — liste_jeux()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49808" y="2386584"/>
            <a:ext cx="10661904" cy="0"/>
          </a:xfrm>
          <a:prstGeom prst="line">
            <a:avLst/>
          </a:prstGeom>
          <a:noFill/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68096" y="2514600"/>
            <a:ext cx="106436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Commentaire avec la note la plus HAUTE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jeu.meilleur_commentaire = (Commentaire.objects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.filter(jeu=jeu)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.order_by('-note', '-date')   # note décroissante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.first())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Commentaire avec la note la plus BASSE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jeu.pire_commentaire = (Commentaire.objects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.filter(jeu=jeu)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.order_by('note', '-date')    # note croissante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.first())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 — Ludothèque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 — import CSV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Import de jeux par fichier (auteur créé si absent)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get_or_create récupère l'auteur s'il existe, sinon le crée. Le fichier est lu ligne par ligne.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______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526280"/>
          </a:xfrm>
          <a:prstGeom prst="roundRect">
            <a:avLst>
              <a:gd name="adj" fmla="val 1212"/>
            </a:avLst>
          </a:prstGeom>
          <a:solidFill>
            <a:srgbClr val="14233F"/>
          </a:solidFill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49808" y="2084832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ludotheque/views.py — importer_jeux_csv()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49808" y="2386584"/>
            <a:ext cx="10661904" cy="0"/>
          </a:xfrm>
          <a:prstGeom prst="line">
            <a:avLst/>
          </a:prstGeom>
          <a:noFill/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68096" y="2514600"/>
            <a:ext cx="10643616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importer_jeux_csv(request):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request.method == 'POST' and request.FILES.get('fichier_csv'):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donnees = request.FILES['fichier_csv'].read().decode('utf-8-sig')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lecteur = csv.DictReader(io.StringIO(donnees))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ligne in lecteur: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auteur, cree = Auteur.objects.get_or_create(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nom=ligne['auteur_nom'], prenom=ligne['auteur_prenom'],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defaults={'age': 0})            # créé si absent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categorie, _ = Categorie.objects.get_or_create(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nom=ligne['categorie'], defaults={'descriptif': ''})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Jeu.objects.create(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titre=ligne['titre'], editeur=ligne['editeur'],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annee_sortie=int(ligne['annee_sortie']),</a:t>
            </a:r>
            <a:endParaRPr lang="en-US" sz="11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auteur=auteur, categorie=categorie)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 — Ludothèque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0">
              <a:schemeClr val="accent1">
                <a:lumMod val="45000"/>
                <a:lumOff val="55000"/>
              </a:schemeClr>
            </a:gs>
            <a:gs pos="0">
              <a:schemeClr val="accent1">
                <a:lumMod val="30000"/>
                <a:lumOff val="70000"/>
                <a:alpha val="1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 — fiche joueur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fiche personnelle d'un joueur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fiche réunit les informations du joueur, sa liste de jeux et tous les commentaires qu'il a écrits.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59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: ______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4480560"/>
          </a:xfrm>
          <a:prstGeom prst="roundRect">
            <a:avLst>
              <a:gd name="adj" fmla="val 1224"/>
            </a:avLst>
          </a:prstGeom>
          <a:solidFill>
            <a:srgbClr val="14233F"/>
          </a:solidFill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49808" y="2084832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593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ludotheque/views.py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49808" y="2386584"/>
            <a:ext cx="10661904" cy="0"/>
          </a:xfrm>
          <a:prstGeom prst="line">
            <a:avLst/>
          </a:prstGeom>
          <a:noFill/>
          <a:ln w="12700">
            <a:solidFill>
              <a:srgbClr val="2639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768096" y="2514600"/>
            <a:ext cx="10643616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fiche_joueur(request, id):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joueur = get_object_or_404(Joueur, pk=id)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render(request, 'ludotheque/joueurs/fiche.html',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{'joueur': joueur})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2C7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commentaires_joueur(request, id):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joueur = get_object_or_404(Joueur, pk=id)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commentaires = (Commentaire.objects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.filter(joueur=joueur)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.select_related('jeu'))   # évite les requêtes en trop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render(request, 'commentaires/par_joueur.html',</a:t>
            </a:r>
            <a:endParaRPr lang="en-US" sz="1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E8ED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{'joueur': joueur, 'commentaires': commentaires})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 — Ludothèque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2"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 parcours que nous allons montrer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0D8C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10058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Remplir la base — catégories, auteurs et jeux via le CRUD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1106424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0D8C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777240" y="2670048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417320" y="2670048"/>
            <a:ext cx="10058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Importer un CSV — ajout groupé avec création automatique des auteurs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511296"/>
            <a:ext cx="1106424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0D8C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777240" y="3511296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417320" y="3511296"/>
            <a:ext cx="10058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Commenter et noter — avec des joueurs particuliers et professionnels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352544"/>
            <a:ext cx="1106424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0D8C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777240" y="4352544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7320" y="4352544"/>
            <a:ext cx="10058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les statistiques — moyennes par type, meilleur et pire commentaire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1106424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E0D8C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777240" y="5193792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417320" y="5193792"/>
            <a:ext cx="1005840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une fiche joueur — sa liste de jeux et ses commentaires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SAÉ 2.03 — Ludothèque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A474A9A-7717-1E80-C260-2C8CAB64CA1E}"/>
              </a:ext>
            </a:extLst>
          </p:cNvPr>
          <p:cNvSpPr txBox="1"/>
          <p:nvPr/>
        </p:nvSpPr>
        <p:spPr>
          <a:xfrm>
            <a:off x="1142639" y="561203"/>
            <a:ext cx="9932691" cy="11659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Déploiement</a:t>
            </a:r>
            <a:r>
              <a:rPr lang="en-US" sz="48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48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l’application</a:t>
            </a:r>
            <a:endParaRPr lang="en-US" sz="48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Tutoriel VirtualBox : créer une machine virtuelle">
            <a:extLst>
              <a:ext uri="{FF2B5EF4-FFF2-40B4-BE49-F238E27FC236}">
                <a16:creationId xmlns:a16="http://schemas.microsoft.com/office/drawing/2014/main" id="{BCCB15EB-0C14-4EC3-D927-AB2AF186B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81935" y="2194156"/>
            <a:ext cx="4481866" cy="3114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utoriel VirtualBox : créer une machine virtuelle">
            <a:extLst>
              <a:ext uri="{FF2B5EF4-FFF2-40B4-BE49-F238E27FC236}">
                <a16:creationId xmlns:a16="http://schemas.microsoft.com/office/drawing/2014/main" id="{F2DAEBD0-A2EE-3A06-1647-52FEFBFE83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50724" y="2192565"/>
            <a:ext cx="4486215" cy="3117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11F6A973-4346-9267-4C17-C08EBAD6441A}"/>
              </a:ext>
            </a:extLst>
          </p:cNvPr>
          <p:cNvSpPr txBox="1"/>
          <p:nvPr/>
        </p:nvSpPr>
        <p:spPr>
          <a:xfrm>
            <a:off x="1381936" y="5251778"/>
            <a:ext cx="462783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8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VM</a:t>
            </a:r>
            <a:r>
              <a:rPr lang="fr-FR" dirty="0"/>
              <a:t> </a:t>
            </a:r>
            <a:r>
              <a:rPr lang="fr-FR" sz="48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BDD</a:t>
            </a:r>
          </a:p>
          <a:p>
            <a:pPr algn="ctr"/>
            <a:r>
              <a:rPr lang="fr-FR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Machine Virtuel contenant la Base de Donnée </a:t>
            </a:r>
            <a:r>
              <a:rPr lang="fr-FR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MariaDB</a:t>
            </a:r>
            <a:endParaRPr lang="fr-FR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F106A70-1DC3-00B2-3D3B-FDF663BF2AB2}"/>
              </a:ext>
            </a:extLst>
          </p:cNvPr>
          <p:cNvSpPr txBox="1"/>
          <p:nvPr/>
        </p:nvSpPr>
        <p:spPr>
          <a:xfrm>
            <a:off x="6350717" y="5291768"/>
            <a:ext cx="4459347" cy="1388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8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VM Web</a:t>
            </a: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20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Machine Virtuel Contenant le site web Django grâce a </a:t>
            </a:r>
            <a:r>
              <a:rPr lang="fr-FR" sz="20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Gunicorn</a:t>
            </a:r>
            <a:endParaRPr lang="fr-FR" sz="20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B43D77A8-56AC-9329-86DB-3CF4E95EB000}"/>
              </a:ext>
            </a:extLst>
          </p:cNvPr>
          <p:cNvCxnSpPr/>
          <p:nvPr/>
        </p:nvCxnSpPr>
        <p:spPr>
          <a:xfrm>
            <a:off x="5137484" y="3519237"/>
            <a:ext cx="205138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D24136E2-5C47-2960-CDBC-A7379A864047}"/>
              </a:ext>
            </a:extLst>
          </p:cNvPr>
          <p:cNvSpPr txBox="1"/>
          <p:nvPr/>
        </p:nvSpPr>
        <p:spPr>
          <a:xfrm>
            <a:off x="4848726" y="2504001"/>
            <a:ext cx="26289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Communication entre les 2 VM via </a:t>
            </a:r>
            <a:r>
              <a:rPr lang="fr-FR" dirty="0" err="1">
                <a:solidFill>
                  <a:srgbClr val="FF0000"/>
                </a:solidFill>
              </a:rPr>
              <a:t>nginx</a:t>
            </a:r>
            <a:endParaRPr lang="fr-FR" dirty="0">
              <a:solidFill>
                <a:srgbClr val="FF0000"/>
              </a:solidFill>
            </a:endParaRPr>
          </a:p>
          <a:p>
            <a:pPr algn="ctr"/>
            <a:r>
              <a:rPr lang="fr-FR" dirty="0">
                <a:solidFill>
                  <a:srgbClr val="FF0000"/>
                </a:solidFill>
              </a:rPr>
              <a:t>Network : Bridge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41977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AC3F63D-C43E-CED8-24AA-125D9267BEFC}"/>
              </a:ext>
            </a:extLst>
          </p:cNvPr>
          <p:cNvSpPr txBox="1"/>
          <p:nvPr/>
        </p:nvSpPr>
        <p:spPr>
          <a:xfrm>
            <a:off x="699714" y="353160"/>
            <a:ext cx="7091300" cy="8985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Fichier de configuration de Gunicorn et Nginx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D7A8369-7DBC-5601-B57C-D6C9AC7D7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42" y="3061546"/>
            <a:ext cx="6513068" cy="2312139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13B3575B-B10E-3280-8381-A228975B9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1408" y="3061546"/>
            <a:ext cx="5131087" cy="2462921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A98631E9-F9E3-442C-C7DE-E6C5EEFA6444}"/>
              </a:ext>
            </a:extLst>
          </p:cNvPr>
          <p:cNvSpPr txBox="1"/>
          <p:nvPr/>
        </p:nvSpPr>
        <p:spPr>
          <a:xfrm>
            <a:off x="2787441" y="2490698"/>
            <a:ext cx="356277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600" b="1" dirty="0" err="1">
                <a:solidFill>
                  <a:srgbClr val="1B2A4A"/>
                </a:solidFill>
                <a:latin typeface="Bookman Old Style" pitchFamily="34" charset="0"/>
              </a:rPr>
              <a:t>Gunicorn</a:t>
            </a:r>
            <a:endParaRPr lang="fr-FR" sz="2600" b="1" dirty="0">
              <a:solidFill>
                <a:srgbClr val="1B2A4A"/>
              </a:solidFill>
              <a:latin typeface="Bookman Old Style" pitchFamily="34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2A6950E-C491-8A78-DCED-E0D7CA38C25A}"/>
              </a:ext>
            </a:extLst>
          </p:cNvPr>
          <p:cNvSpPr txBox="1"/>
          <p:nvPr/>
        </p:nvSpPr>
        <p:spPr>
          <a:xfrm>
            <a:off x="9137654" y="2490617"/>
            <a:ext cx="204554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defRPr sz="2600" b="1">
                <a:solidFill>
                  <a:srgbClr val="1B2A4A"/>
                </a:solidFill>
                <a:latin typeface="Bookman Old Style" pitchFamily="34" charset="0"/>
              </a:defRPr>
            </a:lvl1pPr>
          </a:lstStyle>
          <a:p>
            <a:r>
              <a:rPr lang="fr-FR" dirty="0"/>
              <a:t>Nginx</a:t>
            </a:r>
          </a:p>
        </p:txBody>
      </p:sp>
    </p:spTree>
    <p:extLst>
      <p:ext uri="{BB962C8B-B14F-4D97-AF65-F5344CB8AC3E}">
        <p14:creationId xmlns:p14="http://schemas.microsoft.com/office/powerpoint/2010/main" val="4253905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Bilan du projet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63347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›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97280" y="260604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fonctionnalités du sujet ont été implémentées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273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32461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base de données peuplée et manipulable via le site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91363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9728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calculs statistiques réalisés côté base avec l'ORM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55371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0A52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97280" y="45262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import de fichier robuste avec création automatique des auteurs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5778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C75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Merci de votre attention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2102</Words>
  <Application>Microsoft Office PowerPoint</Application>
  <PresentationFormat>Grand écran</PresentationFormat>
  <Paragraphs>256</Paragraphs>
  <Slides>16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Bookman Old Style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Ludothèque - SAÉ 2.03</dc:title>
  <dc:subject>PptxGenJS Presentation</dc:subject>
  <dc:creator>SAE 2.03</dc:creator>
  <cp:lastModifiedBy>benjamin deiber</cp:lastModifiedBy>
  <cp:revision>7</cp:revision>
  <dcterms:created xsi:type="dcterms:W3CDTF">2026-06-10T08:23:16Z</dcterms:created>
  <dcterms:modified xsi:type="dcterms:W3CDTF">2026-06-10T18:19:36Z</dcterms:modified>
</cp:coreProperties>
</file>