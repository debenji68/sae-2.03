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Moyenne</c:v>
                </c:pt>
              </c:strCache>
            </c:strRef>
          </c:tx>
          <c:spPr>
            <a:solidFill>
              <a:srgbClr val="E0A5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8B-4764-A1BF-A51B65E1AECE}"/>
              </c:ext>
            </c:extLst>
          </c:dPt>
          <c:dPt>
            <c:idx val="1"/>
            <c:invertIfNegative val="0"/>
            <c:bubble3D val="0"/>
            <c:spPr>
              <a:solidFill>
                <a:srgbClr val="F2C7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8B-4764-A1BF-A51B65E1AEC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Particuliers</c:v>
                </c:pt>
                <c:pt idx="1">
                  <c:v>Pros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13.5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8B-4764-A1BF-A51B65E1AE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8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0D8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8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F9D8F12-4905-4386-B9E9-1F97D9576C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647F3B1-E33F-434C-80E1-1BDC1138C5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C55CFE-26B8-4998-A04E-0C88C3475DCF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A380D1-706E-4EAE-98FC-055F4593F8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A21AB-1E14-4DC0-B0F2-B20285D473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BE111F-6058-4E3E-AFDB-2C904D4B3E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1730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6592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C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Gestion d'une Ludothèque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Django — consultation, saisie et manipulation de données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26395F"/>
          </a:solidFill>
          <a:ln w="1270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40233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26395F"/>
          </a:solidFill>
          <a:ln w="1270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14600" y="4023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40233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26395F"/>
          </a:solidFill>
          <a:ln w="1270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480560" y="4023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4023360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26395F"/>
          </a:solidFill>
          <a:ln w="1270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46520" y="4023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C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 KOEBEL Amaury, DEIBER Benjamin, NORDMANN </a:t>
            </a:r>
            <a:r>
              <a:rPr lang="en-US" sz="1400" i="1" dirty="0" err="1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Maxence</a:t>
            </a:r>
            <a:r>
              <a:rPr lang="en-US" sz="1400" i="1" dirty="0">
                <a:solidFill>
                  <a:srgbClr val="88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BAKIR Evan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sujet et le schéma de données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interface de gestion de ludothèque : consulter, commenter, noter et lister des jeux. Six types de données à gérer.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(id, nom, descriptif)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3347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(titre, année, éditeur, auteur, catégorie)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33467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346704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 (nom, prénom, âge, photo)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31520" y="40599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059936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(identifiants, type : particulier / pro)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77316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" y="47731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77316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(jeu, joueur, note, date)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548640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de jeux personnelles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980F294-D597-412F-AD7D-93861BFD1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0088"/>
            <a:ext cx="6908800" cy="31084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C394C07-074C-4810-B264-868A8FD9C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1" y="1780089"/>
            <a:ext cx="5097380" cy="329991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BEA36CB-3478-4F63-A48A-D6E5D302F4C7}"/>
              </a:ext>
            </a:extLst>
          </p:cNvPr>
          <p:cNvSpPr txBox="1"/>
          <p:nvPr/>
        </p:nvSpPr>
        <p:spPr>
          <a:xfrm>
            <a:off x="4639733" y="713377"/>
            <a:ext cx="4978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b="1" dirty="0">
                <a:latin typeface="Bookman Old Style" panose="02050604050505020204" pitchFamily="18" charset="0"/>
              </a:rPr>
              <a:t>Planning de Gantt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AED6A82-9357-48E3-8DED-29444B942A8C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252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— models.py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modèles : la structure de la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classe Python devient une table SQL (l'ORM Django). Les ForeignKey créent les relations entre tables.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526280"/>
          </a:xfrm>
          <a:prstGeom prst="roundRect">
            <a:avLst>
              <a:gd name="adj" fmla="val 1212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ludotheque/models.py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6619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10643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Categorie(models.Model):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 = models.CharField(max_length=100)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descriptif = models.TextField()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Auteur(models.Model):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 = models.CharField(max_length=100)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prenom = models.CharField(max_length=100)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= models.IntegerField()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Jeu(models.Model):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titre = models.CharField(max_length=200)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annee_sortie = models.IntegerField()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editeur = models.CharField(max_length=150)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auteur = models.ForeignKey(Auteur, on_delete=models.CASCADE)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 = models.ForeignKey(Categorie, on_delete=models.CASCADE)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Joueur(models.Model):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 = models.CharField(max_length=100, unique=True)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models.EmailField()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type_joueur = models.CharField(choices=TYPES_CHOICES)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urls.py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routage : URL → vue → template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URL est associée à une fonction de views.py. C'est le point d'entrée de chaque page du site.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4617720"/>
          </a:xfrm>
          <a:prstGeom prst="roundRect">
            <a:avLst>
              <a:gd name="adj" fmla="val 1188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ludotheque/urls.py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2249424"/>
            <a:ext cx="106619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68096" y="2377440"/>
            <a:ext cx="106436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urlpatterns = [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path('', views.accueil, name='accueil'),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Jeux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path('jeux/', views.liste_jeux, name='liste_jeux'),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path('jeux/ajouter/', views.ajouter_jeu, name='ajouter_jeu'),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path('jeux/modifier/&lt;int:id&gt;/', views.modifier_jeu, name='modifier_jeu'),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path('jeux/supprimer/&lt;int:id&gt;/', views.supprimer_jeu, name='supprimer_jeu'),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path('jeux/importer-csv/', views.importer_jeux_csv, name='importer_jeux_csv'),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path('jeux/&lt;int:jeu_id&gt;/commenter/', views.commenter_jeu, name='commenter_jeu'),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Joueurs / commentaires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path('joueurs/&lt;int:id&gt;/', views.fiche_joueur, name='fiche_joueur'),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path('commentaires/', views.liste_commentaires, name='liste_commentaires'),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—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Créer, modifier, supprimer (exemple : catégorie)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6903720" cy="5029200"/>
          </a:xfrm>
          <a:prstGeom prst="roundRect">
            <a:avLst>
              <a:gd name="adj" fmla="val 1091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49808" y="1600200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ludotheque/views.py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650138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68096" y="2029968"/>
            <a:ext cx="6483096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ajouter_categorie(request):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request.method == 'POST':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= CategorieForm(request.POST)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form.is_valid():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form.save()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redirect('liste_categories')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= CategorieForm()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'form.html',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{'form': form})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supprimer_categorie(request, id):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 = get_object_or_404(Categorie, pk=id)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request.method == 'POST':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cat.delete()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redirect('liste_categories')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'supprimer.html',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{'categorie': cat})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481328"/>
            <a:ext cx="3977640" cy="5029200"/>
          </a:xfrm>
          <a:prstGeom prst="roundRect">
            <a:avLst>
              <a:gd name="adj" fmla="val 1379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836408" y="1600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ludotheque/forms.py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36408" y="1901952"/>
            <a:ext cx="35753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854696" y="2029968"/>
            <a:ext cx="3557016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CategorieForm(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forms.ModelForm):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Meta: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= Categorie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fields = '__all__'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ModelForm génère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automatiquement les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champs du formulaire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à partir du modèle.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même schéma se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répète pour les 6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entités du projet.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— ACCUEIL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sélection aléatoire de la page d'accueil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order_by('?') trie les résultats au hasard côté base de données, puis .first() prend le premier élément.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ludotheque/views.py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6619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1064361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accueil(request):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jeu_aleatoire = Jeu.objects.order_by('?').first()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auteur_aleatoire = Auteur.objects.order_by('?').first()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categorie_aleatoire = Categorie.objects.order_by('?').first()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commentaire_aleatoire = Commentaire.objects.order_by('?').first()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 =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'jeu_choisi': jeu_aleatoire,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'auteur_choisi': auteur_aleatoire,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'categorie_choisie': categorie_aleatoire,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'commentaire_choisi': commentaire_aleatoire,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'ludotheque/accueil.html', context)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— USAGERS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Commenter un jeu et l'ajouter à sa liste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49808" y="16002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ludotheque/views.py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106619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68096" y="2029968"/>
            <a:ext cx="10643616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commenter_jeu(request, jeu_id):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jeu = get_object_or_404(Jeu, pk=jeu_id)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request.method == 'POST':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joueur = get_object_or_404(Joueur, pk=request.POST.get('joueur_id'))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Commentaire.objects.create(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jeu=jeu, joueur=joueur,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note=request.POST.get('note'),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commentaire=request.POST.get('commentaire', ''))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redirect('liste_jeux')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ajouter_jeu_liste_depuis_jeux(request, jeu_id):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jeu = get_object_or_404(Jeu, pk=jeu_id)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request.method == 'POST':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joueur = get_object_or_404(Joueur, pk=request.POST.get('joueur_id'))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liste, created = ListeJeux.objects.get_or_create(joueur=joueur)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liste.jeux.add(jeu)   # relation ManyToMany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redirect('liste_jeux')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— moyenne par 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Moyenne des notes par type de joueur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values() regroupe les commentaires par type de joueur ; annotate(Avg('note')) calcule la moyenne de chaque groupe.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315200" cy="4480560"/>
          </a:xfrm>
          <a:prstGeom prst="roundRect">
            <a:avLst>
              <a:gd name="adj" fmla="val 1224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ludotheque/views.py — liste_jeux()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691286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6894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jeu in jeux: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moyennes = (Commentaire.objects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.filter(jeu=jeu)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.values('joueur__type_joueur')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.annotate(moyenne=Avg('note')))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dico = {l['joueur__type_joueur']: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round(l['moyenne'], 2)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l in moyennes}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jeu.moyenne_particulier = dico.get('particulier')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jeu.moyenne_professionnel = dico.get('professionnel')</a:t>
            </a:r>
            <a:endParaRPr lang="en-US" sz="11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8046720" y="2194560"/>
          <a:ext cx="35661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— top / flop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Commentaires les mieux et moins bien notés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trie les commentaires par note puis on prend le premier : décroissant pour la meilleure note, croissant pour la pire.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06240"/>
          </a:xfrm>
          <a:prstGeom prst="roundRect">
            <a:avLst>
              <a:gd name="adj" fmla="val 1304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ludotheque/views.py — liste_jeux()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6619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106436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Commentaire avec la note la plus HAUTE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jeu.meilleur_commentaire = (Commentaire.objects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.filter(jeu=jeu)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.order_by('-note', '-date')   # note décroissante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.first())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Commentaire avec la note la plus BASSE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jeu.pire_commentaire = (Commentaire.objects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.filter(jeu=jeu)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.order_by('note', '-date')    # note croissante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.first())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— import CSV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Import de jeux par fichier (auteur créé si absent)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get_or_create récupère l'auteur s'il existe, sinon le crée. Le fichier est lu ligne par ligne.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526280"/>
          </a:xfrm>
          <a:prstGeom prst="roundRect">
            <a:avLst>
              <a:gd name="adj" fmla="val 1212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ludotheque/views.py — importer_jeux_csv()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6619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1064361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importer_jeux_csv(request):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request.method == 'POST' and request.FILES.get('fichier_csv'):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donnees = request.FILES['fichier_csv'].read().decode('utf-8-sig')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lecteur = csv.DictReader(io.StringIO(donnees))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ligne in lecteur: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auteur, cree = Auteur.objects.get_or_create(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nom=ligne['auteur_nom'], prenom=ligne['auteur_prenom'],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defaults={'age': 0})            # créé si absent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categorie, _ = Categorie.objects.get_or_create(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nom=ligne['categorie'], defaults={'descriptif': ''})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Jeu.objects.create(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titre=ligne['titre'], editeur=ligne['editeur'],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annee_sortie=int(ligne['annee_sortie']),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auteur=auteur, categorie=categorie)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  <a:alpha val="1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— fiche joueur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fiche personnelle d'un joueur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réunit les informations du joueur, sa liste de jeux et tous les commentaires qu'il a écrits.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______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14233F"/>
          </a:solidFill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084832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ludotheque/views.py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661904" cy="0"/>
          </a:xfrm>
          <a:prstGeom prst="line">
            <a:avLst/>
          </a:prstGeom>
          <a:noFill/>
          <a:ln w="12700">
            <a:solidFill>
              <a:srgbClr val="2639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1064361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fiche_joueur(request, id):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joueur = get_object_or_404(Joueur, pk=id)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'ludotheque/joueurs/fiche.html',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{'joueur': joueur})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2C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commentaires_joueur(request, id):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joueur = get_object_or_404(Joueur, pk=id)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commentaires = (Commentaire.objects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.filter(joueur=joueur)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.select_related('jeu'))   # évite les requêtes en trop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render(request, 'commentaires/par_joueur.html',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{'joueur': joueur, 'commentaires': commentaires})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parcours que nous allons montrer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la base — catégories, auteurs et jeux via le CRUD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670048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un CSV — ajout groupé avec création automatique des auteurs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3511296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3511296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Commenter et noter — avec des joueurs particuliers et professionnels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4352544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352544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statistiques — moyennes par type, meilleur et pire commentaire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0D8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5193792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5193792"/>
            <a:ext cx="10058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une fiche joueur — sa liste de jeux et ses commentaires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SAÉ 2.03 — Ludothèque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A474A9A-7717-1E80-C260-2C8CAB64CA1E}"/>
              </a:ext>
            </a:extLst>
          </p:cNvPr>
          <p:cNvSpPr txBox="1"/>
          <p:nvPr/>
        </p:nvSpPr>
        <p:spPr>
          <a:xfrm>
            <a:off x="1142639" y="561203"/>
            <a:ext cx="9932691" cy="1165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Déploiement</a:t>
            </a: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8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l’application</a:t>
            </a:r>
            <a:endParaRPr lang="en-US" sz="48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utoriel VirtualBox : créer une machine virtuelle">
            <a:extLst>
              <a:ext uri="{FF2B5EF4-FFF2-40B4-BE49-F238E27FC236}">
                <a16:creationId xmlns:a16="http://schemas.microsoft.com/office/drawing/2014/main" id="{BCCB15EB-0C14-4EC3-D927-AB2AF186B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1935" y="2194156"/>
            <a:ext cx="4481866" cy="311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utoriel VirtualBox : créer une machine virtuelle">
            <a:extLst>
              <a:ext uri="{FF2B5EF4-FFF2-40B4-BE49-F238E27FC236}">
                <a16:creationId xmlns:a16="http://schemas.microsoft.com/office/drawing/2014/main" id="{F2DAEBD0-A2EE-3A06-1647-52FEFBFE8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0724" y="2192565"/>
            <a:ext cx="4486215" cy="31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1F6A973-4346-9267-4C17-C08EBAD6441A}"/>
              </a:ext>
            </a:extLst>
          </p:cNvPr>
          <p:cNvSpPr txBox="1"/>
          <p:nvPr/>
        </p:nvSpPr>
        <p:spPr>
          <a:xfrm>
            <a:off x="1381936" y="5251778"/>
            <a:ext cx="4627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VM</a:t>
            </a:r>
            <a:r>
              <a:rPr lang="fr-FR" dirty="0"/>
              <a:t> </a:t>
            </a:r>
            <a:r>
              <a:rPr lang="fr-FR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BDD</a:t>
            </a:r>
          </a:p>
          <a:p>
            <a:pPr algn="ctr"/>
            <a:r>
              <a:rPr lang="fr-FR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Machine Virtuel contenant la Base de Donnée </a:t>
            </a:r>
            <a:r>
              <a:rPr lang="fr-FR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MariaDB</a:t>
            </a:r>
            <a:endParaRPr lang="fr-FR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F106A70-1DC3-00B2-3D3B-FDF663BF2AB2}"/>
              </a:ext>
            </a:extLst>
          </p:cNvPr>
          <p:cNvSpPr txBox="1"/>
          <p:nvPr/>
        </p:nvSpPr>
        <p:spPr>
          <a:xfrm>
            <a:off x="6350717" y="5291768"/>
            <a:ext cx="4459347" cy="138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VM Web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2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Machine Virtuel Contenant le site web Django grâce a </a:t>
            </a:r>
            <a:r>
              <a:rPr lang="fr-FR" sz="2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Gunicorn</a:t>
            </a:r>
            <a:endParaRPr lang="fr-FR" sz="2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43D77A8-56AC-9329-86DB-3CF4E95EB000}"/>
              </a:ext>
            </a:extLst>
          </p:cNvPr>
          <p:cNvCxnSpPr/>
          <p:nvPr/>
        </p:nvCxnSpPr>
        <p:spPr>
          <a:xfrm>
            <a:off x="5137484" y="3519237"/>
            <a:ext cx="20513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D24136E2-5C47-2960-CDBC-A7379A864047}"/>
              </a:ext>
            </a:extLst>
          </p:cNvPr>
          <p:cNvSpPr txBox="1"/>
          <p:nvPr/>
        </p:nvSpPr>
        <p:spPr>
          <a:xfrm>
            <a:off x="4848726" y="2504001"/>
            <a:ext cx="2628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Communication entre les 2 VM via </a:t>
            </a:r>
            <a:r>
              <a:rPr lang="fr-FR" dirty="0" err="1">
                <a:solidFill>
                  <a:srgbClr val="FF0000"/>
                </a:solidFill>
              </a:rPr>
              <a:t>nginx</a:t>
            </a:r>
            <a:endParaRPr lang="fr-FR" dirty="0">
              <a:solidFill>
                <a:srgbClr val="FF0000"/>
              </a:solidFill>
            </a:endParaRPr>
          </a:p>
          <a:p>
            <a:pPr algn="ctr"/>
            <a:r>
              <a:rPr lang="fr-FR" dirty="0">
                <a:solidFill>
                  <a:srgbClr val="FF0000"/>
                </a:solidFill>
              </a:rPr>
              <a:t>Network : Bridge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1977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Bilan du projet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334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606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fonctionnalités du sujet ont été implémentées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735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données peuplée et manipulable via le site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136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calculs statistiques réalisés côté base avec l'ORM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537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4526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import de fichier robuste avec création automatique des auteurs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577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C7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Merci de votre attention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2093</Words>
  <Application>Microsoft Office PowerPoint</Application>
  <PresentationFormat>Grand écran</PresentationFormat>
  <Paragraphs>253</Paragraphs>
  <Slides>15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Ludothèque - SAÉ 2.03</dc:title>
  <dc:subject>PptxGenJS Presentation</dc:subject>
  <dc:creator>SAE 2.03</dc:creator>
  <cp:lastModifiedBy>benjamin deiber</cp:lastModifiedBy>
  <cp:revision>6</cp:revision>
  <dcterms:created xsi:type="dcterms:W3CDTF">2026-06-10T08:23:16Z</dcterms:created>
  <dcterms:modified xsi:type="dcterms:W3CDTF">2026-06-10T18:04:36Z</dcterms:modified>
</cp:coreProperties>
</file>